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C4D6FD-5263-4B99-95E6-FCCE8DFB778F}">
  <a:tblStyle styleId="{56C4D6FD-5263-4B99-95E6-FCCE8DFB77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d22d643f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d22d643f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d22d643f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d22d643f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d22d643f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d22d643f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d22d643f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d22d643f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d22d643f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d22d643f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d22d643f3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d22d643f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d22d643f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d22d643f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d22d643f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d22d643f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d22d643f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d22d643f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77050" y="2055075"/>
            <a:ext cx="8520600" cy="12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Интеллектуальная система автоматизированной сверки вёрстки веб-страницы с макетом Figma на основе компьютерного зрения и локальных языковых моделей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668175" y="3783600"/>
            <a:ext cx="4356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Выполнила: </a:t>
            </a:r>
            <a:r>
              <a:rPr lang="ru" sz="1400">
                <a:solidFill>
                  <a:schemeClr val="dk1"/>
                </a:solidFill>
              </a:rPr>
              <a:t>Петрыкина Ольга Сергеевна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Руководитель: </a:t>
            </a:r>
            <a:r>
              <a:rPr lang="ru" sz="1400">
                <a:solidFill>
                  <a:schemeClr val="dk1"/>
                </a:solidFill>
                <a:highlight>
                  <a:srgbClr val="FFFFFF"/>
                </a:highlight>
              </a:rPr>
              <a:t>Ушаков Владимир Александрович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46350" y="0"/>
            <a:ext cx="845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1D1D1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 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2320925" y="774675"/>
            <a:ext cx="43569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D1D1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1D1D1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Факультет компьютерных наук </a:t>
            </a:r>
            <a:endParaRPr>
              <a:solidFill>
                <a:srgbClr val="1D1D1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Кафедра информационных систем</a:t>
            </a:r>
            <a:endParaRPr>
              <a:solidFill>
                <a:srgbClr val="1D1D1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999375" y="45762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D1D1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Воронеж, 2026</a:t>
            </a:r>
            <a:endParaRPr sz="1000">
              <a:solidFill>
                <a:srgbClr val="1D1D1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Цель и задачи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Цель </a:t>
            </a:r>
            <a:r>
              <a:rPr lang="ru" sz="1700">
                <a:solidFill>
                  <a:schemeClr val="dk1"/>
                </a:solidFill>
              </a:rPr>
              <a:t>- разработать локальную систему автоматического сравнения вёрстки с макетом Figma с помощью компьютерного зрения и локальных языковых моделей.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Задачи: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❏"/>
            </a:pPr>
            <a:r>
              <a:rPr lang="ru" sz="1700">
                <a:solidFill>
                  <a:schemeClr val="dk1"/>
                </a:solidFill>
              </a:rPr>
              <a:t>Проанализировать область, аналоги, сформировать требования и спроектировать модульную архитектуру.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❏"/>
            </a:pPr>
            <a:r>
              <a:rPr lang="ru" sz="1700">
                <a:solidFill>
                  <a:schemeClr val="dk1"/>
                </a:solidFill>
              </a:rPr>
              <a:t>Реализовать ключевые модули (загрузка данных, попиксельный анализ, нейросетевую классификацию) и интеграцию Ollama для описания дефектов.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❏"/>
            </a:pPr>
            <a:r>
              <a:rPr lang="ru" sz="1700">
                <a:solidFill>
                  <a:schemeClr val="dk1"/>
                </a:solidFill>
              </a:rPr>
              <a:t>Разработать интерфейсы: CLI, веб-панель и десктопное приложение.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Проблема и решение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082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600">
                <a:solidFill>
                  <a:srgbClr val="1D1D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Проблема </a:t>
            </a:r>
            <a:r>
              <a:rPr lang="ru" sz="1600">
                <a:solidFill>
                  <a:srgbClr val="1D1D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Ручная сверка вёрстки с макетом  долгая, субъективная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Облачные сервисы платные и небезопасные.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Решение 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Полностью локальная система, которая через Figma API и гибридный ИИ (компьютерное зрение + нейросети + LLM) автоматически сравнивает вёрстку с макетом и выдаёт понятные русскоязычные отчёты с вердиктом PASS/FAIL.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1D1D1F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Сравнение с аналогами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171525" y="133455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{56C4D6FD-5263-4B99-95E6-FCCE8DFB778F}</a:tableStyleId>
              </a:tblPr>
              <a:tblGrid>
                <a:gridCol w="1836575"/>
                <a:gridCol w="1706050"/>
                <a:gridCol w="1706050"/>
                <a:gridCol w="1706050"/>
                <a:gridCol w="1706050"/>
              </a:tblGrid>
              <a:tr h="390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Критерий</a:t>
                      </a:r>
                      <a:endParaRPr b="1"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Облачные (SaaS)</a:t>
                      </a:r>
                      <a:endParaRPr b="1"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Open-Source</a:t>
                      </a:r>
                      <a:endParaRPr b="1"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Ручная проверка</a:t>
                      </a:r>
                      <a:endParaRPr b="1"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Наша система</a:t>
                      </a:r>
                      <a:endParaRPr b="1"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Стоимость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От $29/мес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Бесплатно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Бесплатно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Бесплатно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Хранение данных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Облако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Локально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Не хранится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Локально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Интеграция с Figma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Нет/Частично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Нет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Ручной экспорт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Прямая (API)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Язык отчётов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Английский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Английский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Субъективный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Русский (LLM)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Интеллектуальный анализ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Да (в облаке)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Нет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Человеческий фактор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1D1D1F"/>
                          </a:solidFill>
                          <a:highlight>
                            <a:srgbClr val="FFFFFF"/>
                          </a:highlight>
                        </a:rPr>
                        <a:t>Локальные нейросети</a:t>
                      </a:r>
                      <a:endParaRPr sz="1200">
                        <a:solidFill>
                          <a:srgbClr val="1D1D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1E3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Архитектура системы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0" l="0" r="2153" t="12488"/>
          <a:stretch/>
        </p:blipFill>
        <p:spPr>
          <a:xfrm>
            <a:off x="1243075" y="1017725"/>
            <a:ext cx="5903849" cy="192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4">
            <a:alphaModFix/>
          </a:blip>
          <a:srcRect b="12756" l="0" r="0" t="9838"/>
          <a:stretch/>
        </p:blipFill>
        <p:spPr>
          <a:xfrm>
            <a:off x="877888" y="2740025"/>
            <a:ext cx="7388226" cy="240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Конвейер обработки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900" y="1239963"/>
            <a:ext cx="67818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9850" y="2649675"/>
            <a:ext cx="6136450" cy="121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Интерфейс системы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850" y="986250"/>
            <a:ext cx="8262800" cy="367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Результаты эксперимента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475" y="1017725"/>
            <a:ext cx="605426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Демонстрация и преимущества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5935650" y="1119325"/>
            <a:ext cx="3085500" cy="36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384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5"/>
              <a:buFont typeface="Times New Roman"/>
              <a:buAutoNum type="arabicPeriod"/>
            </a:pPr>
            <a:r>
              <a:rPr lang="ru" sz="118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Полная локальность — все данные остаются на компьютере, без передачи в облако.</a:t>
            </a:r>
            <a:endParaRPr sz="11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84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5"/>
              <a:buFont typeface="Times New Roman"/>
              <a:buAutoNum type="arabicPeriod"/>
            </a:pPr>
            <a:r>
              <a:rPr lang="ru" sz="118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Прямая интеграция с Figma — не требуется ручной экспорт макетов.</a:t>
            </a:r>
            <a:endParaRPr sz="11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84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5"/>
              <a:buFont typeface="Times New Roman"/>
              <a:buAutoNum type="arabicPeriod"/>
            </a:pPr>
            <a:r>
              <a:rPr lang="ru" sz="118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Гибридный анализ (CV + нейросети + LLM) — высокая точность и минимум ложных срабатываний.</a:t>
            </a:r>
            <a:endParaRPr sz="11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84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5"/>
              <a:buFont typeface="Times New Roman"/>
              <a:buAutoNum type="arabicPeriod"/>
            </a:pPr>
            <a:r>
              <a:rPr lang="ru" sz="118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Русскоязычные отчёты — понятные описания дефектов для дизайнеров и разработчиков.</a:t>
            </a:r>
            <a:endParaRPr sz="11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84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5"/>
              <a:buFont typeface="Times New Roman"/>
              <a:buAutoNum type="arabicPeriod"/>
            </a:pPr>
            <a:r>
              <a:rPr lang="ru" sz="118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Отказоустойчивость — работает даже без нейросетей.</a:t>
            </a:r>
            <a:endParaRPr sz="11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84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5"/>
              <a:buFont typeface="Times New Roman"/>
              <a:buAutoNum type="arabicPeriod"/>
            </a:pPr>
            <a:r>
              <a:rPr lang="ru" sz="118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Три удобных интерфейса — CLI, веб-панель и десктопное приложение.</a:t>
            </a:r>
            <a:endParaRPr sz="11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1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 rotWithShape="1">
          <a:blip r:embed="rId3">
            <a:alphaModFix/>
          </a:blip>
          <a:srcRect b="22704" l="20669" r="22011" t="6854"/>
          <a:stretch/>
        </p:blipFill>
        <p:spPr>
          <a:xfrm>
            <a:off x="466900" y="970675"/>
            <a:ext cx="5160173" cy="396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 достигнута: разработана автономная система визуальной валидации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Гибридный конвейер подтвердил высокую точность: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F1-score = 0,971 | MAE = 0,027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Ложные срабатывания: 34% → &lt;6%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Ключевые результаты: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Полная локальность обработки — данные не покидают ПК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Прямая интеграция с Figma API — без ручного экспорта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Русскоязычные отчёты — понятно дизайнеру и разработчику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• Отказоустойчивость — работает даже без нейросетей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ru" sz="13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Все поставленные задачи решены, система готова к использованию  в учебных проектах и небольших командах</a:t>
            </a:r>
            <a:endParaRPr sz="13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</a:rPr>
              <a:t>0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